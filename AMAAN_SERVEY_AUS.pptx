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914400"/>
            <a:ext cx="2926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QUEENSLAND GOVERNMENT · DETE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&amp; Data Analysis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777240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Department of Education, Training &amp; Employment  |  </a:t>
            </a:r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822 Employee Records  |  56 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566160"/>
            <a:ext cx="182880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822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Total Exits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3566160"/>
            <a:ext cx="182880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3.64/5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 Satisfaction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3566160"/>
            <a:ext cx="182880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26.4%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WLB Exits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3566160"/>
            <a:ext cx="182880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56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94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Variables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4572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Business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Background of DETE and purpose of exit survey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9144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914400"/>
            <a:ext cx="4572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144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Dataset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822 records · 56 columns · data cleaning steps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0574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057400"/>
            <a:ext cx="4572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574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Employee Turnover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Separation types, top exit reasons, tenure trends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20574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057400"/>
            <a:ext cx="4572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0574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Workplace Satisfaction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21-dimension Likert analysis · satisfaction scores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2004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200400"/>
            <a:ext cx="4572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2004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Demographic Insights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611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Gender, age, region, employment type patterns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32004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200400"/>
            <a:ext cx="4572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2004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3611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Critical data-driven insights for HR teams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0" y="43434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0" y="4343400"/>
            <a:ext cx="4572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43434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108960" y="4434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108960" y="4754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strategic actions to improve retention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5029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68680"/>
            <a:ext cx="50292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68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About DETE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Queensland Government's Department of Education, Training &amp; Employment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Largest state government employer in Queensland, Australia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61518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Exit surveys conducted to understand why employees resign or retire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23697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Data used to inform attraction, retention, and workplace improvement initiatives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85876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Survey captures operational, organizational &amp; personal variables affecting exit decisions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868680"/>
            <a:ext cx="3108960" cy="4023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06440" y="960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Survey Objectives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06440" y="146304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99632" y="1463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Identify key factors driving employee turnover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06440" y="212140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9632" y="21214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Evaluate workplace satisfaction &amp; morale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06440" y="2779776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779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9632" y="27797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Assess management &amp; work-life balance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3438144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34381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Analyse demographic trends in exits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06440" y="4096512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9632" y="40965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Improve retention &amp; working conditions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Data Cleaning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9202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6868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822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Total 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868680"/>
            <a:ext cx="19202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86868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56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Columns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868680"/>
            <a:ext cx="19202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86868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17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0060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Exit Reason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Columns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868680"/>
            <a:ext cx="19202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86868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21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Satisfaction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Rating Columns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Column Categories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42316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Personal &amp; Employment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28072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ID, Separation Type, Cease Date, Start Date, Position, Region, Employment Status, Classification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9204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242316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Reasons for Leaving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28072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Career moves, Dissatisfaction, Work-life balance, Workload, Maternity, Health issues, Relocation (17 boolean columns)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657600"/>
            <a:ext cx="54864" cy="10515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Satisfaction Ratings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4041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Professional Dev, Opportunities, Staff morale, Supervisor, Peer support, Stress, Wellness &amp; 14 more (Likert: SA→SD)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9204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657600"/>
            <a:ext cx="54864" cy="10515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Demographics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4041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Gender, Age group, Aboriginal/Torres Strait heritage, Disability, NESB background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Turnover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5029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60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Separation Type Breakdown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Age Retirement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51760" y="1408176"/>
            <a:ext cx="3474720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285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1755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Resignation - Other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51760" y="1792224"/>
            <a:ext cx="1828800" cy="237744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55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150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21396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Resignation - Other Employer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51760" y="2176272"/>
            <a:ext cx="1109472" cy="237744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6952" y="21396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91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2523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Resignation - Overseas/Interstate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2560320"/>
            <a:ext cx="853440" cy="237744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0920" y="2523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70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2907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Voluntary Early Retirement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51760" y="2944368"/>
            <a:ext cx="81686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4344" y="2907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67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Ill Health Retirement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51760" y="3328416"/>
            <a:ext cx="74371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1192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61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3675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Other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51760" y="3712464"/>
            <a:ext cx="597408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4888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49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" y="40599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Contract Expired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51760" y="4096512"/>
            <a:ext cx="414528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12008" y="4059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34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4360" y="4443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Termination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51760" y="4480560"/>
            <a:ext cx="182880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44439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15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868680"/>
            <a:ext cx="3108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06440" y="960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Top Exit Reasons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06440" y="1426464"/>
            <a:ext cx="73152" cy="256032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61888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Work-Life Balance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92440" y="1426464"/>
            <a:ext cx="594360" cy="256032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1371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26.4%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06440" y="1847088"/>
            <a:ext cx="7315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61888" y="17922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Ill Health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92440" y="1847088"/>
            <a:ext cx="59436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92440" y="179222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13.6%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06440" y="2267712"/>
            <a:ext cx="7315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61888" y="2212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Job Dissatisfaction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092440" y="2267712"/>
            <a:ext cx="59436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92440" y="22128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10.8%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06440" y="2688336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61888" y="26334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Workload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92440" y="2688336"/>
            <a:ext cx="594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92440" y="26334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10.6%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06440" y="3108960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61888" y="3054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Relocation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92440" y="3108960"/>
            <a:ext cx="594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92440" y="305409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8.3%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06440" y="3529584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61888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Maternity / Family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092440" y="3529584"/>
            <a:ext cx="594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92440" y="34747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7.5%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806440" y="3950208"/>
            <a:ext cx="7315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61888" y="38953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Dissatisfaction w/ Dept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092440" y="3950208"/>
            <a:ext cx="59436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92440" y="389534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7.4%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806440" y="4370832"/>
            <a:ext cx="7315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61888" y="4315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Career Move (Private)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092440" y="4370832"/>
            <a:ext cx="59436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92440" y="43159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9.7%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Satisfaction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832104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68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Scoring Method (Likert Scale):  SA = 5  |  A = 4  |  N = 3  |  D = 2  |  SD = 1  →  Average of 21 dimensions = Overall Satisfaction Score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Satisfaction Dimension Scores (Avg)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Skills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77440" y="1883664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1883664"/>
            <a:ext cx="20175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8288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3.94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Physical Environment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2267712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267712"/>
            <a:ext cx="1971446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212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3.85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596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Peer Support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77440" y="2651760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2651760"/>
            <a:ext cx="1961205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5968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3.83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2980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Health &amp; Safety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77440" y="3035808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3035808"/>
            <a:ext cx="1930481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9809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3.77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Performance of Supervisor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377440" y="3419856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3419856"/>
            <a:ext cx="1904878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3.72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Kept Informed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377440" y="3803904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3803904"/>
            <a:ext cx="1884396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7490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3.68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4133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Information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77440" y="4187952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0" y="4187952"/>
            <a:ext cx="1869034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1330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3.65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4517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Communication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377440" y="4572000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0" y="4572000"/>
            <a:ext cx="1853672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451713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3.62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4632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Satisfaction Dimension Scores (Avg)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Staff Morale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20840" y="1883664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1883664"/>
            <a:ext cx="1817827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18288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3.55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46320" y="2212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Worklife Balance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720840" y="2267712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20840" y="2267712"/>
            <a:ext cx="1802465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26880" y="2212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3.52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46320" y="2596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Workplace Issue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720840" y="2651760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20840" y="2651760"/>
            <a:ext cx="1781983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26880" y="25968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3.48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46320" y="2980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Stress &amp; Pressure Support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720840" y="3035808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20840" y="3035808"/>
            <a:ext cx="1761500" cy="21945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26880" y="29809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3.44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46320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Wellness Programs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720840" y="3419856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20840" y="3419856"/>
            <a:ext cx="1761500" cy="21945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26880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3.44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4632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Coach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720840" y="3803904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20840" y="3803904"/>
            <a:ext cx="1771741" cy="21945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26880" y="37490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3.46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846320" y="4133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Opportunities for Promotion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720840" y="4187952"/>
            <a:ext cx="25603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20840" y="4187952"/>
            <a:ext cx="1705173" cy="21945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26880" y="41330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3.33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02920" y="4663440"/>
            <a:ext cx="8321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" y="46634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Overall Average Satisfaction Score:  3.64 / 5.0  →  Employees are SATISFIED but borderline — key areas need urgent attention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2560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68680"/>
            <a:ext cx="25603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68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Gender Distribution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Female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26"/>
                </a:solidFill>
              </a:rPr>
              <a:t>573  (69.7%)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1938528"/>
            <a:ext cx="1466044" cy="256032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Male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225  (27.4%)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944368"/>
            <a:ext cx="57567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Female employees account for nearly 70% of all exits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68680"/>
            <a:ext cx="27432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868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 at Exit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325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61+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77640" y="1399032"/>
            <a:ext cx="1554480" cy="256032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325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222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180136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56-60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77640" y="1874520"/>
            <a:ext cx="1218376" cy="256032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1736" y="18013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174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227685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51-55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77640" y="2350008"/>
            <a:ext cx="721223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4583" y="22768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275234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46-50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77640" y="2825496"/>
            <a:ext cx="441136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4496" y="27523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63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37560" y="322783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41-45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77640" y="3300984"/>
            <a:ext cx="4271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50492" y="32278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61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37033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26-30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77640" y="3776472"/>
            <a:ext cx="399123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22483" y="3703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57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417880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36-40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77640" y="4251960"/>
            <a:ext cx="35711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0470" y="41788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51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868680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868680"/>
            <a:ext cx="26517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868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Employment Type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1325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Perm Full-time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63640" y="1600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434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1399032"/>
            <a:ext cx="1737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1984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Perm Part-time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63640" y="22585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308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03720" y="2057400"/>
            <a:ext cx="1232965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642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Temp Full-time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63640" y="29169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</a:rPr>
              <a:t>41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03720" y="2715768"/>
            <a:ext cx="164128" cy="21945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33009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Temp Part-time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63640" y="35753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24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03720" y="3374136"/>
            <a:ext cx="96075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3959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Casual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63640" y="42336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03720" y="4032504"/>
            <a:ext cx="40031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Data-driven insights from 822 employee exit records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502920" cy="11430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Work-Life Balance is #1 Exit Driver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1560" y="149047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26.4% of all departing employees cited Work-Life Balance as a reason — making it the single biggest driver of exits across all separation types.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37760" y="1051560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051560"/>
            <a:ext cx="5029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143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Resignees are Far Less Satisfied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32120" y="149047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Resignation employees score significantly lower on overall satisfaction vs retirees — indicating preventable turnover exists.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350008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50008"/>
            <a:ext cx="502920" cy="11430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50008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4414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Older Workforce Exits Dominate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51560" y="27889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61+ and 56-60 age groups account for 48% of all exits — heavily driven by age retirements and ill-health separations.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37760" y="2350008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2350008"/>
            <a:ext cx="5029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50008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24414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Promotion Opportunities are Lowest Rated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32120" y="27889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Opportunities for Promotion scored only 3.33/5 — the lowest of all 21 satisfaction dimensions — indicating career stagnation.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648456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48456"/>
            <a:ext cx="502920" cy="11430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48456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7398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Female Employees: 70% of Exits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51560" y="408736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573 of 822 exits are female employees. Maternity/Family (7.5%) and WLB issues disproportionately affect women.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3648456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3648456"/>
            <a:ext cx="5029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648456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37398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Early-Tenure Attrition is High Risk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32120" y="408736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Employees with 0-6 years tenure show elevated exit rates — onboarding and early retention programs are needed urgently.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68680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Flexible Work Arrangements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7512" y="1216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Remote &amp; compressed hours especially for part-time staff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0" y="1051560"/>
            <a:ext cx="1097280" cy="320040"/>
          </a:xfrm>
          <a:prstGeom prst="rect">
            <a:avLst/>
          </a:prstGeom>
          <a:solidFill>
            <a:srgbClr val="CCFFCC"/>
          </a:solidFill>
          <a:ln w="12700">
            <a:solidFill>
              <a:srgbClr val="CCFF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7A48"/>
                </a:solidFill>
              </a:rPr>
              <a:t>Short-term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92040" y="8686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868680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Workload Management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56632" y="1216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Team-based load balancing and mandatory rest policies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772400" y="1051560"/>
            <a:ext cx="1097280" cy="320040"/>
          </a:xfrm>
          <a:prstGeom prst="rect">
            <a:avLst/>
          </a:prstGeom>
          <a:solidFill>
            <a:srgbClr val="CCFFCC"/>
          </a:solidFill>
          <a:ln w="12700">
            <a:solidFill>
              <a:srgbClr val="CCFF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7A48"/>
                </a:solidFill>
              </a:rPr>
              <a:t>Short-term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1737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1737360"/>
            <a:ext cx="54864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Career Development Pathways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7512" y="20848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Structured promotion paths + coaching for Teachers &amp; Aides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83280" y="1920240"/>
            <a:ext cx="1097280" cy="3200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B00"/>
                </a:solidFill>
              </a:rPr>
              <a:t>Medium-term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92040" y="1737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737360"/>
            <a:ext cx="54864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Leadership Training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56632" y="20848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Mandatory 360° feedback and manager development programs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72400" y="1920240"/>
            <a:ext cx="1097280" cy="3200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B00"/>
                </a:solidFill>
              </a:rPr>
              <a:t>Medium-term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26060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2606040"/>
            <a:ext cx="54864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Staff Recognition Programs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" y="2953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Regular recognition events + cross-team collaboration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83280" y="2788920"/>
            <a:ext cx="1097280" cy="3200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2788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B00"/>
                </a:solidFill>
              </a:rPr>
              <a:t>Medium-term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92040" y="26060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2606040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Early-Tenure Onboarding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56632" y="2953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90-day buddy programs + 6-month check-ins for new staff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772400" y="2788920"/>
            <a:ext cx="1097280" cy="320040"/>
          </a:xfrm>
          <a:prstGeom prst="rect">
            <a:avLst/>
          </a:prstGeom>
          <a:solidFill>
            <a:srgbClr val="CCFFCC"/>
          </a:solidFill>
          <a:ln w="12700">
            <a:solidFill>
              <a:srgbClr val="CCFF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2788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7A48"/>
                </a:solidFill>
              </a:rPr>
              <a:t>Short-term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" y="34747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2920" y="3474720"/>
            <a:ext cx="54864" cy="74980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Mental Health &amp; EAP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67512" y="38221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Expand Employee Assistance Programs + stress leave policy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383280" y="3657600"/>
            <a:ext cx="1097280" cy="320040"/>
          </a:xfrm>
          <a:prstGeom prst="rect">
            <a:avLst/>
          </a:prstGeom>
          <a:solidFill>
            <a:srgbClr val="FFE0CC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2500"/>
                </a:solidFill>
              </a:rPr>
              <a:t>Long-term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92040" y="34747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92040" y="3474720"/>
            <a:ext cx="54864" cy="74980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56632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Regional Equity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56632" y="38221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Address pay/benefit gaps in Far North &amp; North Queensland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772400" y="3657600"/>
            <a:ext cx="1097280" cy="320040"/>
          </a:xfrm>
          <a:prstGeom prst="rect">
            <a:avLst/>
          </a:prstGeom>
          <a:solidFill>
            <a:srgbClr val="FFE0CC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2500"/>
                </a:solidFill>
              </a:rPr>
              <a:t>Long-term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2920" y="43434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43400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7512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Better Exit Interviews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67512" y="46908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Structured qualitative follow-ups for all resignees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383280" y="4526280"/>
            <a:ext cx="1097280" cy="320040"/>
          </a:xfrm>
          <a:prstGeom prst="rect">
            <a:avLst/>
          </a:prstGeom>
          <a:solidFill>
            <a:srgbClr val="CCFFCC"/>
          </a:solidFill>
          <a:ln w="12700">
            <a:solidFill>
              <a:srgbClr val="CCFF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7A48"/>
                </a:solidFill>
              </a:rPr>
              <a:t>Short-term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92040" y="43434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892040" y="4343400"/>
            <a:ext cx="54864" cy="74980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56632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Predictive Satisfaction Tracking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056632" y="46908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Quarterly satisfaction index with early warning system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772400" y="4526280"/>
            <a:ext cx="1097280" cy="320040"/>
          </a:xfrm>
          <a:prstGeom prst="rect">
            <a:avLst/>
          </a:prstGeom>
          <a:solidFill>
            <a:srgbClr val="FFE0CC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7240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2500"/>
                </a:solidFill>
              </a:rPr>
              <a:t>Long-term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B8A6"/>
                </a:solidFill>
              </a:rPr>
              <a:t>DETE Employee Exit Survey — Case Study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2377440"/>
            <a:ext cx="457200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822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Records Analyzed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3464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3.64/5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346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 Satisfaction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10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7512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26.4%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751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WLB Exit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Data Source: Queensland Government — Department of Education, Training &amp; Employment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Amaan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 Employee Exit Survey Case Study</dc:title>
  <dc:subject>DETE Exit Survey Case Study by Amaan</dc:subject>
  <dc:creator>Amaan</dc:creator>
  <cp:lastModifiedBy>Amaan</cp:lastModifiedBy>
  <cp:revision>1</cp:revision>
  <dcterms:created xsi:type="dcterms:W3CDTF">2026-03-16T08:37:05Z</dcterms:created>
  <dcterms:modified xsi:type="dcterms:W3CDTF">2026-03-16T08:37:05Z</dcterms:modified>
</cp:coreProperties>
</file>